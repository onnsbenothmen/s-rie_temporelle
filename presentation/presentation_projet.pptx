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Bonjour. Ce projet porte sur la prévision de la charge électrique, de la production éolienne et solaire en Allemagne. Nous comparons six familles de modèles, en R et en Python, pour des horizons de 5 heures à 7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présentation suit quatre temps : le contexte et les données, puis la modélisation, et enfin l'évaluation comparative et la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partie : pourquoi ce sujet et quelle est la question de recherche.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centrale : comparer les familles de modèles selon l'horizon. Court terme, un modèle linéaire peut suffire ; long terme, les réseaux de neurones prennent l'avantage.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données sont propres et complètes. Le point d'attention est le COVID, qui rend la période de test structurellement différente de l'entraînement.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partie : comprenons la structure statistique des séries avant toute modélisation.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voit immédiatement les deux saisonnalités. La charge est la série la plus régulière et donc la plus prévisible ; le solaire est le plus difficile.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ADF et KPSS convergent : une différenciation suffit. L'ACF qui décroît lentement signale la mémoire longue et la saisonnalité.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méthodologie est identique pour toutes les familles afin que la comparaison soit équitable : mêmes données, mêmes fenêtres.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partie : les six familles de modèles et leurs résultats.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ordres sélectionnés par auto.arima en R et par statsmodels en Python sont très proches, ce qui renforce la confiance dans le choix des modèles.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 l'horizon court, ARIMA/SARIMA atteint 899 MW de RMSE à 10 h sur la charge, soit 1,4 % d'erreur relative. C'est excellent.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 et VECM exploitent les dépendances entre charge, éolien et solaire, contrairement à ARIMA qui traite chaque série séparément.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GARCH ne prédit pas la valeur du vent mais son amplitude de variation : les intervalles de prévision s'adaptent au régime de 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courbes de perte montrent une convergence rapide et sans sur-apprentissage marqué. Le walk-forward LSTM reste performant malgré la rupture COVID.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L'approche hybride sépare la structure linéaire exploitable par ARIMA de la part non linéaire laissée à un modèle souple : c'est très efficace sur l'horizon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Quatrième partie : comparons les modèles de façon rigoureuse et tirons les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 clé : aucun modèle ne gagne partout. Le choix dépend de l'horizon. C'est le résultat le plus important du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Synthèse : court terme un modèle statistique, moyen terme un réseau récurrent, long terme une approche hybride avec tendance.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DM confirme que les classements observés ne relèvent pas du bruit d'échantillonnage : les écarts sont réels et significatifs.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tableau de bord Streamlit a été développé pour rendre les résultats explorables et compréhensibles par des non spécialistes.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projet est complet : toutes les étapes clés d'un pipeline de séries temporelles ont été couvertes et comparées.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Reconnaître les limites est essentiel : la météo et les facteurs exogènes sont la principale piste d'amélioration.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perspectives naturelles : enrichir les entrées, tester des architectures plus récentes et industrialiser le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Nous arrivons à la fin : merci de votre attention, je suis disponible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3B2E"/>
              </a:gs>
              <a:gs pos="100000">
                <a:srgbClr val="17694B"/>
              </a:gs>
            </a:gsLst>
            <a:lin scaled="0" ang="19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023360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51392" y="4023360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07424" y="4023360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63456" y="4023360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19488" y="4023360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0" y="4023360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1552" y="4023360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0" y="4279392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51392" y="4279392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07424" y="4279392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63456" y="4279392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19488" y="4279392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0" y="4279392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31552" y="4279392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4535424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51392" y="4535424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07424" y="4535424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63456" y="4535424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19488" y="4535424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75520" y="4535424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31552" y="4535424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0" y="4791456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51392" y="4791456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4791456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63456" y="4791456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19488" y="4791456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0" y="4791456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31552" y="4791456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95360" y="5047488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51392" y="5047488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5047488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63456" y="5047488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19488" y="5047488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75520" y="5047488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31552" y="5047488"/>
            <a:ext cx="64008" cy="64008"/>
          </a:xfrm>
          <a:prstGeom prst="ellipse">
            <a:avLst/>
          </a:prstGeom>
          <a:solidFill>
            <a:srgbClr val="14855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-2011680" y="-2194560"/>
            <a:ext cx="6400800" cy="6400800"/>
          </a:xfrm>
          <a:prstGeom prst="ellipse">
            <a:avLst/>
          </a:prstGeom>
          <a:solidFill>
            <a:srgbClr val="14855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41280" y="4572000"/>
            <a:ext cx="3657600" cy="3657600"/>
          </a:xfrm>
          <a:prstGeom prst="ellipse">
            <a:avLst/>
          </a:prstGeom>
          <a:solidFill>
            <a:srgbClr val="34C08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13258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300">
                <a:solidFill>
                  <a:srgbClr val="34C08A"/>
                </a:solidFill>
                <a:latin typeface="Segoe UI"/>
              </a:rPr>
              <a:t>MINI-PROJET  ·  R &amp; PYTHON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1783080"/>
            <a:ext cx="9692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FFFFFF"/>
                </a:solidFill>
                <a:latin typeface="Bahnschrift"/>
              </a:rPr>
              <a:t>Prévision des séries</a:t>
            </a:r>
          </a:p>
          <a:p>
            <a:pPr algn="l">
              <a:lnSpc>
                <a:spcPct val="102000"/>
              </a:lnSpc>
            </a:pPr>
            <a:r>
              <a:rPr sz="4600" b="1">
                <a:solidFill>
                  <a:srgbClr val="FFFFFF"/>
                </a:solidFill>
                <a:latin typeface="Bahnschrift"/>
              </a:rPr>
              <a:t>temporelles énergétiques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7A092"/>
                </a:solidFill>
                <a:latin typeface="Segoe UI"/>
              </a:rPr>
              <a:t>Charge, éolien et solaire en Allemagne (ENTSO-E) : exploration, modélisation et évaluation comparative de six familles de modèles.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754880"/>
            <a:ext cx="1472184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754880"/>
            <a:ext cx="14721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4855A"/>
                </a:solidFill>
                <a:latin typeface="Segoe UI"/>
              </a:rPr>
              <a:t>ARIMA / SARIMA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76856" y="4754880"/>
            <a:ext cx="1124712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76856" y="4754880"/>
            <a:ext cx="11247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F7C6C"/>
                </a:solidFill>
                <a:latin typeface="Segoe UI"/>
              </a:rPr>
              <a:t>VAR / VECM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66160" y="4754880"/>
            <a:ext cx="690372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4754880"/>
            <a:ext cx="6903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2703A"/>
                </a:solidFill>
                <a:latin typeface="Segoe UI"/>
              </a:rPr>
              <a:t>GARCH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21124" y="4754880"/>
            <a:ext cx="1124712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21124" y="4754880"/>
            <a:ext cx="11247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C08A"/>
                </a:solidFill>
                <a:latin typeface="Segoe UI"/>
              </a:rPr>
              <a:t>LSTM / GRU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10428" y="4754880"/>
            <a:ext cx="1732788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0428" y="4754880"/>
            <a:ext cx="17327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E9B824"/>
                </a:solidFill>
                <a:latin typeface="Segoe UI"/>
              </a:rPr>
              <a:t>Prophet &amp; Hybride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989320"/>
            <a:ext cx="64008" cy="566928"/>
          </a:xfrm>
          <a:prstGeom prst="rect">
            <a:avLst/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" y="5989320"/>
            <a:ext cx="822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50 400 observations horaires  ·  2015 → 2020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5989320"/>
            <a:ext cx="2560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7A092"/>
                </a:solidFill>
                <a:latin typeface="Segoe UI"/>
              </a:rPr>
              <a:t>Année universitaire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14855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14855A"/>
                </a:solidFill>
                <a:latin typeface="Segoe UI"/>
              </a:rPr>
              <a:t>SOMMAIRE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Le parcours de la présentation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783080"/>
            <a:ext cx="10911535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" y="1984248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198424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19385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C2B22"/>
                </a:solidFill>
                <a:latin typeface="Bahnschrift"/>
              </a:rPr>
              <a:t>Contexte &amp; problématique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2295144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Enjeux du réseau, données ENTSO-E et question de recherche.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2843784"/>
            <a:ext cx="10911535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3044952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04495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299923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C2B22"/>
                </a:solidFill>
                <a:latin typeface="Bahnschrift"/>
              </a:rPr>
              <a:t>Données &amp; analyse exploratoire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335584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Structure horaire, saisonnalités et tests de stationnarité.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904488"/>
            <a:ext cx="10911535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4105656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41056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0200" y="405993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C2B22"/>
                </a:solidFill>
                <a:latin typeface="Bahnschrift"/>
              </a:rPr>
              <a:t>Modélisation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441655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ARIMA, VAR/VECM, GARCH, LSTM/GRU, Prophet et approche hybride.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965192"/>
            <a:ext cx="10911535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1248" y="5166360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51663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51206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C2B22"/>
                </a:solidFill>
                <a:latin typeface="Bahnschrift"/>
              </a:rPr>
              <a:t>Évaluation &amp; conclusion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47725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RMSE, classement, Diebold-Mariano, limites et perspectives.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3B2E"/>
              </a:gs>
              <a:gs pos="100000">
                <a:srgbClr val="17694B"/>
              </a:gs>
            </a:gsLst>
            <a:lin scaled="0" ang="19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9144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9144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9144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9144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9144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18872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0" y="118872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118872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66960" y="118872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0" y="118872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0" y="118872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146304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0" y="146304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92640" y="146304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146304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0" y="146304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146304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173736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0" y="173736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0" y="173736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73736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73736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173736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201168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0" y="201168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40" y="201168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66960" y="201168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1280" y="201168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5600" y="201168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22860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0" y="22860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92640" y="22860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66960" y="22860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41280" y="22860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5600" y="2286000"/>
            <a:ext cx="68580" cy="68580"/>
          </a:xfrm>
          <a:prstGeom prst="ellipse">
            <a:avLst/>
          </a:prstGeom>
          <a:solidFill>
            <a:srgbClr val="14855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34C08A"/>
                </a:solidFill>
                <a:latin typeface="Segoe UI"/>
              </a:rPr>
              <a:t>PARTIE 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88036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ahnschrift"/>
              </a:rPr>
              <a:t>Contexte &amp; problématique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886200"/>
            <a:ext cx="731520" cy="82296"/>
          </a:xfrm>
          <a:prstGeom prst="rect">
            <a:avLst/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14855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14855A"/>
                </a:solidFill>
                <a:latin typeface="Segoe UI"/>
              </a:rPr>
              <a:t>01 · CONTEXTE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Pourquoi prévoir la production et la charge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1828800"/>
            <a:ext cx="57607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La transition énergétique rend le réseau allemand </a:t>
            </a:r>
            <a:r>
              <a:rPr sz="1450" b="1">
                <a:solidFill>
                  <a:srgbClr val="0C2B22"/>
                </a:solidFill>
                <a:latin typeface="Segoe UI"/>
              </a:rPr>
              <a:t>plus volatil</a:t>
            </a:r>
            <a:r>
              <a:rPr sz="1450" b="0">
                <a:solidFill>
                  <a:srgbClr val="4C6659"/>
                </a:solidFill>
                <a:latin typeface="Segoe UI"/>
              </a:rPr>
              <a:t> : forte part d'éolien et de solaire, production </a:t>
            </a:r>
            <a:r>
              <a:rPr sz="1450" b="1">
                <a:solidFill>
                  <a:srgbClr val="0C2B22"/>
                </a:solidFill>
                <a:latin typeface="Segoe UI"/>
              </a:rPr>
              <a:t>intermittente</a:t>
            </a:r>
            <a:r>
              <a:rPr sz="1450" b="0">
                <a:solidFill>
                  <a:srgbClr val="4C6659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À l'horizon 2030, l'Allemagne viserait environ </a:t>
            </a:r>
            <a:r>
              <a:rPr sz="1450" b="1">
                <a:solidFill>
                  <a:srgbClr val="0C2B22"/>
                </a:solidFill>
                <a:latin typeface="Segoe UI"/>
              </a:rPr>
              <a:t>80 %</a:t>
            </a:r>
            <a:r>
              <a:rPr sz="1450" b="0">
                <a:solidFill>
                  <a:srgbClr val="4C6659"/>
                </a:solidFill>
                <a:latin typeface="Segoe UI"/>
              </a:rPr>
              <a:t> d'électricité renouvelable : l'équilibrage offre/demande devient critique.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De bonnes prévisions servent au </a:t>
            </a:r>
            <a:r>
              <a:rPr sz="1450" b="1">
                <a:solidFill>
                  <a:srgbClr val="0C2B22"/>
                </a:solidFill>
                <a:latin typeface="Segoe UI"/>
              </a:rPr>
              <a:t>dispatching</a:t>
            </a:r>
            <a:r>
              <a:rPr sz="1450" b="0">
                <a:solidFill>
                  <a:srgbClr val="4C6659"/>
                </a:solidFill>
                <a:latin typeface="Segoe UI"/>
              </a:rPr>
              <a:t>, au </a:t>
            </a:r>
            <a:r>
              <a:rPr sz="1450" b="1">
                <a:solidFill>
                  <a:srgbClr val="0C2B22"/>
                </a:solidFill>
                <a:latin typeface="Segoe UI"/>
              </a:rPr>
              <a:t>dimensionnement du stockage</a:t>
            </a:r>
            <a:r>
              <a:rPr sz="1450" b="0">
                <a:solidFill>
                  <a:srgbClr val="4C6659"/>
                </a:solidFill>
                <a:latin typeface="Segoe UI"/>
              </a:rPr>
              <a:t> et à la </a:t>
            </a:r>
            <a:r>
              <a:rPr sz="1450" b="1">
                <a:solidFill>
                  <a:srgbClr val="0C2B22"/>
                </a:solidFill>
                <a:latin typeface="Segoe UI"/>
              </a:rPr>
              <a:t>fixation des prix</a:t>
            </a:r>
            <a:r>
              <a:rPr sz="1450" b="0">
                <a:solidFill>
                  <a:srgbClr val="4C6659"/>
                </a:solidFill>
                <a:latin typeface="Segoe UI"/>
              </a:rPr>
              <a:t> sur les marchés.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Trois séries cibles : </a:t>
            </a:r>
            <a:r>
              <a:rPr sz="1450" b="1">
                <a:solidFill>
                  <a:srgbClr val="0C2B22"/>
                </a:solidFill>
                <a:latin typeface="Segoe UI"/>
              </a:rPr>
              <a:t>charge</a:t>
            </a:r>
            <a:r>
              <a:rPr sz="1450" b="0">
                <a:solidFill>
                  <a:srgbClr val="4C6659"/>
                </a:solidFill>
                <a:latin typeface="Segoe UI"/>
              </a:rPr>
              <a:t>, </a:t>
            </a:r>
            <a:r>
              <a:rPr sz="1450" b="1">
                <a:solidFill>
                  <a:srgbClr val="0C2B22"/>
                </a:solidFill>
                <a:latin typeface="Segoe UI"/>
              </a:rPr>
              <a:t>éolien</a:t>
            </a:r>
            <a:r>
              <a:rPr sz="1450" b="0">
                <a:solidFill>
                  <a:srgbClr val="4C6659"/>
                </a:solidFill>
                <a:latin typeface="Segoe UI"/>
              </a:rPr>
              <a:t>, </a:t>
            </a:r>
            <a:r>
              <a:rPr sz="1450" b="1">
                <a:solidFill>
                  <a:srgbClr val="0C2B22"/>
                </a:solidFill>
                <a:latin typeface="Segoe UI"/>
              </a:rPr>
              <a:t>solaire</a:t>
            </a:r>
            <a:r>
              <a:rPr sz="1450" b="0">
                <a:solidFill>
                  <a:srgbClr val="4C6659"/>
                </a:solidFill>
                <a:latin typeface="Segoe UI"/>
              </a:rPr>
              <a:t>, à quatre horizons : </a:t>
            </a:r>
            <a:r>
              <a:rPr sz="1450" b="1">
                <a:solidFill>
                  <a:srgbClr val="0C2B22"/>
                </a:solidFill>
                <a:latin typeface="Segoe UI"/>
              </a:rPr>
              <a:t>h = 5, 10, 24</a:t>
            </a:r>
            <a:r>
              <a:rPr sz="1450" b="0">
                <a:solidFill>
                  <a:srgbClr val="4C6659"/>
                </a:solidFill>
                <a:latin typeface="Segoe UI"/>
              </a:rPr>
              <a:t> heures et </a:t>
            </a:r>
            <a:r>
              <a:rPr sz="1450" b="1">
                <a:solidFill>
                  <a:srgbClr val="0C2B22"/>
                </a:solidFill>
                <a:latin typeface="Segoe UI"/>
              </a:rPr>
              <a:t>5 040 h (~7 mois)</a:t>
            </a:r>
            <a:r>
              <a:rPr sz="1450" b="0">
                <a:solidFill>
                  <a:srgbClr val="4C6659"/>
                </a:solidFill>
                <a:latin typeface="Segoe U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1783080"/>
            <a:ext cx="4709160" cy="3108960"/>
          </a:xfrm>
          <a:prstGeom prst="roundRect">
            <a:avLst>
              <a:gd name="adj" fmla="val 10000"/>
            </a:avLst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21031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7C6C"/>
                </a:solidFill>
                <a:latin typeface="Bahnschrift"/>
              </a:rPr>
              <a:t>Question de recherche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651760"/>
            <a:ext cx="4114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0C2B22"/>
                </a:solidFill>
                <a:latin typeface="Segoe UI"/>
              </a:rPr>
              <a:t>Quelle famille de modèles offre le meilleur compromis précision / robustesse sur les séries énergétiques allemandes, selon l'horizon de prévision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14855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14855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14855A"/>
                </a:solidFill>
                <a:latin typeface="Segoe UI"/>
              </a:rPr>
              <a:t>01 · DONNÉES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Le jeu de données ENTSO-E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783080"/>
            <a:ext cx="3466490" cy="1632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2039112"/>
            <a:ext cx="566928" cy="566928"/>
          </a:xfrm>
          <a:prstGeom prst="ellipse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20391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4855A"/>
                </a:solidFill>
                <a:latin typeface="Segoe UI"/>
              </a:rPr>
              <a:t>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752344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Fréquence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209544"/>
            <a:ext cx="2917850" cy="22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Séries horaires en MW, horodatage UTC.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2602" y="1783080"/>
            <a:ext cx="3466490" cy="1632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36922" y="2039112"/>
            <a:ext cx="566928" cy="566928"/>
          </a:xfrm>
          <a:prstGeom prst="ellipse">
            <a:avLst/>
          </a:prstGeom>
          <a:solidFill>
            <a:srgbClr val="E2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6922" y="20391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4C08A"/>
                </a:solidFill>
                <a:latin typeface="Segoe UI"/>
              </a:rPr>
              <a:t>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922" y="2752344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Volume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922" y="3209544"/>
            <a:ext cx="2917850" cy="22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50 400 observations, 3 variables endogènes.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85124" y="1783080"/>
            <a:ext cx="3466490" cy="1632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59444" y="2039112"/>
            <a:ext cx="566928" cy="566928"/>
          </a:xfrm>
          <a:prstGeom prst="ellipse">
            <a:avLst/>
          </a:prstGeom>
          <a:solidFill>
            <a:srgbClr val="FB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9444" y="20391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2703A"/>
                </a:solidFill>
                <a:latin typeface="Segoe UI"/>
              </a:rPr>
              <a:t>◎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9444" y="2752344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Période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9444" y="3209544"/>
            <a:ext cx="2917850" cy="22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1er janvier 2015 → 30 septembre 2020.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3671316"/>
            <a:ext cx="3466490" cy="1632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4400" y="3927348"/>
            <a:ext cx="566928" cy="566928"/>
          </a:xfrm>
          <a:prstGeom prst="ellipse">
            <a:avLst/>
          </a:prstGeom>
          <a:solidFill>
            <a:srgbClr val="FC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39273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9B824"/>
                </a:solidFill>
                <a:latin typeface="Segoe UI"/>
              </a:rPr>
              <a:t>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4640580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Anomalie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097780"/>
            <a:ext cx="2917850" cy="22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Effet COVID visible au printemps 2020.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62602" y="3671316"/>
            <a:ext cx="3466490" cy="1632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636922" y="3927348"/>
            <a:ext cx="566928" cy="566928"/>
          </a:xfrm>
          <a:prstGeom prst="ellipse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36922" y="39273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F7C6C"/>
                </a:solidFill>
                <a:latin typeface="Segoe UI"/>
              </a:rPr>
              <a:t>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36922" y="4640580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Découpage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36922" y="5097780"/>
            <a:ext cx="2917850" cy="22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90 % entraînement / 10 % test, anti-fuite.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85124" y="3671316"/>
            <a:ext cx="3466490" cy="16322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59444" y="3927348"/>
            <a:ext cx="566928" cy="566928"/>
          </a:xfrm>
          <a:prstGeom prst="ellipse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59444" y="39273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4855A"/>
                </a:solidFill>
                <a:latin typeface="Segoe UI"/>
              </a:rPr>
              <a:t>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9444" y="4640580"/>
            <a:ext cx="291785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Outils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9444" y="5097780"/>
            <a:ext cx="2917850" cy="22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R (forecast, vars, rugarch) et Python (statsmodels, Keras).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5815585"/>
            <a:ext cx="10911535" cy="566928"/>
          </a:xfrm>
          <a:prstGeom prst="roundRect">
            <a:avLst>
              <a:gd name="adj" fmla="val 30000"/>
            </a:avLst>
          </a:prstGeom>
          <a:solidFill>
            <a:srgbClr val="14855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2960" y="5980177"/>
            <a:ext cx="68580" cy="237744"/>
          </a:xfrm>
          <a:prstGeom prst="rect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6" y="5815585"/>
            <a:ext cx="102714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C2B22"/>
                </a:solidFill>
                <a:latin typeface="Segoe UI"/>
              </a:rPr>
              <a:t>À RETENIR  ·  Aucune donnée manquante ; le test démarre le 5 mars 2020, en pleine crise sanitaire.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3B2E"/>
              </a:gs>
              <a:gs pos="100000">
                <a:srgbClr val="34C08A"/>
              </a:gs>
            </a:gsLst>
            <a:lin scaled="0" ang="19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9144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9144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9144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9144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9144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18872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0" y="118872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118872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66960" y="118872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0" y="118872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0" y="118872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146304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0" y="146304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92640" y="146304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146304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0" y="146304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146304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173736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0" y="173736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0" y="173736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73736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73736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173736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201168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0" y="201168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40" y="201168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66960" y="201168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1280" y="201168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5600" y="201168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22860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0" y="22860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92640" y="22860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66960" y="22860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41280" y="22860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5600" y="2286000"/>
            <a:ext cx="68580" cy="68580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14855A"/>
                </a:solidFill>
                <a:latin typeface="Segoe UI"/>
              </a:rPr>
              <a:t>PARTIE 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88036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ahnschrift"/>
              </a:rPr>
              <a:t>Données &amp; analyse exploratoire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886200"/>
            <a:ext cx="731520" cy="82296"/>
          </a:xfrm>
          <a:prstGeom prst="rect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34C08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34C08A"/>
                </a:solidFill>
                <a:latin typeface="Segoe UI"/>
              </a:rPr>
              <a:t>02 · ANALYSE EXPLORATOIRE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Saisonnalités et structure des séries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1901952"/>
            <a:ext cx="6858000" cy="3520440"/>
          </a:xfrm>
          <a:prstGeom prst="roundRect">
            <a:avLst>
              <a:gd name="adj" fmla="val 5000"/>
            </a:avLst>
          </a:prstGeom>
          <a:solidFill>
            <a:srgbClr val="14855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1783080"/>
            <a:ext cx="685800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y_t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76" y="1929384"/>
            <a:ext cx="4509008" cy="28986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6384" y="4974336"/>
            <a:ext cx="6565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7A092"/>
                </a:solidFill>
                <a:latin typeface="Segoe UI"/>
              </a:rPr>
              <a:t>Superposition des trois séries horaires (2015-2020)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828800"/>
            <a:ext cx="38404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250" b="1">
                <a:solidFill>
                  <a:srgbClr val="0C2B22"/>
                </a:solidFill>
                <a:latin typeface="Segoe UI"/>
              </a:rPr>
              <a:t>Double saisonnalité</a:t>
            </a:r>
            <a:r>
              <a:rPr sz="1250" b="0">
                <a:solidFill>
                  <a:srgbClr val="4C6659"/>
                </a:solidFill>
                <a:latin typeface="Segoe UI"/>
              </a:rPr>
              <a:t> : cycle journalier (24 h) et cycle annuel (8 760 h).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La </a:t>
            </a:r>
            <a:r>
              <a:rPr sz="1250" b="1">
                <a:solidFill>
                  <a:srgbClr val="0C2B22"/>
                </a:solidFill>
                <a:latin typeface="Segoe UI"/>
              </a:rPr>
              <a:t>charge</a:t>
            </a:r>
            <a:r>
              <a:rPr sz="1250" b="0">
                <a:solidFill>
                  <a:srgbClr val="4C6659"/>
                </a:solidFill>
                <a:latin typeface="Segoe UI"/>
              </a:rPr>
              <a:t> présente des pics marqués matin et soir, plus bas le week-end.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L'</a:t>
            </a:r>
            <a:r>
              <a:rPr sz="1250" b="1">
                <a:solidFill>
                  <a:srgbClr val="0C2B22"/>
                </a:solidFill>
                <a:latin typeface="Segoe UI"/>
              </a:rPr>
              <a:t>éolien</a:t>
            </a:r>
            <a:r>
              <a:rPr sz="1250" b="0">
                <a:solidFill>
                  <a:srgbClr val="4C6659"/>
                </a:solidFill>
                <a:latin typeface="Segoe UI"/>
              </a:rPr>
              <a:t> est sporadique et volatile ; le </a:t>
            </a:r>
            <a:r>
              <a:rPr sz="1250" b="1">
                <a:solidFill>
                  <a:srgbClr val="0C2B22"/>
                </a:solidFill>
                <a:latin typeface="Segoe UI"/>
              </a:rPr>
              <a:t>solaire</a:t>
            </a:r>
            <a:r>
              <a:rPr sz="1250" b="0">
                <a:solidFill>
                  <a:srgbClr val="4C6659"/>
                </a:solidFill>
                <a:latin typeface="Segoe UI"/>
              </a:rPr>
              <a:t> suit fidèlement l'ensoleillement.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Une </a:t>
            </a:r>
            <a:r>
              <a:rPr sz="1250" b="1">
                <a:solidFill>
                  <a:srgbClr val="0C2B22"/>
                </a:solidFill>
                <a:latin typeface="Segoe UI"/>
              </a:rPr>
              <a:t>tendance</a:t>
            </a:r>
            <a:r>
              <a:rPr sz="1250" b="0">
                <a:solidFill>
                  <a:srgbClr val="4C6659"/>
                </a:solidFill>
                <a:latin typeface="Segoe UI"/>
              </a:rPr>
              <a:t> de fond et des régimes météo créent des non-linéarités.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34C08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34C08A"/>
                </a:solidFill>
                <a:latin typeface="Segoe UI"/>
              </a:rPr>
              <a:t>02 · STATIONNARITÉ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Tests de racine unitaire et différenciation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1828800"/>
            <a:ext cx="57607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50" b="1">
                <a:solidFill>
                  <a:srgbClr val="0C2B22"/>
                </a:solidFill>
                <a:latin typeface="Segoe UI"/>
              </a:rPr>
              <a:t>ADF</a:t>
            </a:r>
            <a:r>
              <a:rPr sz="1450" b="0">
                <a:solidFill>
                  <a:srgbClr val="4C6659"/>
                </a:solidFill>
                <a:latin typeface="Segoe UI"/>
              </a:rPr>
              <a:t> et </a:t>
            </a:r>
            <a:r>
              <a:rPr sz="1450" b="1">
                <a:solidFill>
                  <a:srgbClr val="0C2B22"/>
                </a:solidFill>
                <a:latin typeface="Segoe UI"/>
              </a:rPr>
              <a:t>KPSS</a:t>
            </a:r>
            <a:r>
              <a:rPr sz="1450" b="0">
                <a:solidFill>
                  <a:srgbClr val="4C6659"/>
                </a:solidFill>
                <a:latin typeface="Segoe UI"/>
              </a:rPr>
              <a:t> appliqués à chaque série : les niveaux sont </a:t>
            </a:r>
            <a:r>
              <a:rPr sz="1450" b="1">
                <a:solidFill>
                  <a:srgbClr val="0C2B22"/>
                </a:solidFill>
                <a:latin typeface="Segoe UI"/>
              </a:rPr>
              <a:t>non stationnaires</a:t>
            </a:r>
            <a:r>
              <a:rPr sz="1450" b="0">
                <a:solidFill>
                  <a:srgbClr val="4C6659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Après différenciation d'ordre 1, les séries deviennent </a:t>
            </a:r>
            <a:r>
              <a:rPr sz="1450" b="1">
                <a:solidFill>
                  <a:srgbClr val="0C2B22"/>
                </a:solidFill>
                <a:latin typeface="Segoe UI"/>
              </a:rPr>
              <a:t>stationnaires</a:t>
            </a:r>
            <a:r>
              <a:rPr sz="1450" b="0">
                <a:solidFill>
                  <a:srgbClr val="4C6659"/>
                </a:solidFill>
                <a:latin typeface="Segoe UI"/>
              </a:rPr>
              <a:t> → choix de </a:t>
            </a:r>
            <a:r>
              <a:rPr sz="1450" b="1">
                <a:solidFill>
                  <a:srgbClr val="0C2B22"/>
                </a:solidFill>
                <a:latin typeface="Segoe UI"/>
              </a:rPr>
              <a:t>d = 1</a:t>
            </a:r>
            <a:r>
              <a:rPr sz="1450" b="0">
                <a:solidFill>
                  <a:srgbClr val="4C6659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Saisonnalité journalière : différenciation de lag 24 (série horaire), confirmée par l'</a:t>
            </a:r>
            <a:r>
              <a:rPr sz="1450" b="1">
                <a:solidFill>
                  <a:srgbClr val="0C2B22"/>
                </a:solidFill>
                <a:latin typeface="Segoe UI"/>
              </a:rPr>
              <a:t>ACF/PACF</a:t>
            </a:r>
            <a:r>
              <a:rPr sz="1450" b="0">
                <a:solidFill>
                  <a:srgbClr val="4C6659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Ces tests guident le choix des ordres </a:t>
            </a:r>
            <a:r>
              <a:rPr sz="1450" b="1">
                <a:solidFill>
                  <a:srgbClr val="0C2B22"/>
                </a:solidFill>
                <a:latin typeface="Segoe UI"/>
              </a:rPr>
              <a:t>p, d, q</a:t>
            </a:r>
            <a:r>
              <a:rPr sz="1450" b="0">
                <a:solidFill>
                  <a:srgbClr val="4C6659"/>
                </a:solidFill>
                <a:latin typeface="Segoe UI"/>
              </a:rPr>
              <a:t> des modèles ARIMA.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76872" y="1901952"/>
            <a:ext cx="4709160" cy="3520440"/>
          </a:xfrm>
          <a:prstGeom prst="roundRect">
            <a:avLst>
              <a:gd name="adj" fmla="val 5000"/>
            </a:avLst>
          </a:prstGeom>
          <a:solidFill>
            <a:srgbClr val="14855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0" y="1783080"/>
            <a:ext cx="470916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y_acf_pacf_Load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2274570"/>
            <a:ext cx="4416552" cy="22082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04304" y="4974336"/>
            <a:ext cx="44165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7A092"/>
                </a:solidFill>
                <a:latin typeface="Segoe UI"/>
              </a:rPr>
              <a:t>ACF / PACF de la charge différenciée : décroissances lentes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34C08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34C08A"/>
                </a:solidFill>
                <a:latin typeface="Segoe UI"/>
              </a:rPr>
              <a:t>02 · MÉTHODOLOGIE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Du nettoyage à l'évaluation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2011680"/>
            <a:ext cx="2522143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" y="226771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22677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999232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B22"/>
                </a:solidFill>
                <a:latin typeface="Bahnschrift"/>
              </a:rPr>
              <a:t>Préparation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3474720"/>
            <a:ext cx="2010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Nettoyage, gestion de la saisonnalité, split temporel 90/10.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36543" y="2011680"/>
            <a:ext cx="2522143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92575" y="226771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92575" y="22677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92575" y="2999232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B22"/>
                </a:solidFill>
                <a:latin typeface="Bahnschrift"/>
              </a:rPr>
              <a:t>Statistique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92575" y="3474720"/>
            <a:ext cx="2010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ARIMA, SARIMA, VAR/VECM, GARCH.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3006" y="2011680"/>
            <a:ext cx="2522143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89038" y="226771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89038" y="22677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9038" y="2999232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B22"/>
                </a:solidFill>
                <a:latin typeface="Bahnschrift"/>
              </a:rPr>
              <a:t>Machine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89038" y="3474720"/>
            <a:ext cx="2010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LSTM, GRU, Prophet, modèle hybride.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29469" y="2011680"/>
            <a:ext cx="2522143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285501" y="226771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5501" y="22677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5501" y="2999232"/>
            <a:ext cx="2010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B22"/>
                </a:solidFill>
                <a:latin typeface="Bahnschrift"/>
              </a:rPr>
              <a:t>Évaluation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5501" y="3474720"/>
            <a:ext cx="2010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RMSE, MAPE, comparaison au naïve.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815585"/>
            <a:ext cx="10911535" cy="566928"/>
          </a:xfrm>
          <a:prstGeom prst="roundRect">
            <a:avLst>
              <a:gd name="adj" fmla="val 30000"/>
            </a:avLst>
          </a:prstGeom>
          <a:solidFill>
            <a:srgbClr val="34C08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" y="5980177"/>
            <a:ext cx="68580" cy="237744"/>
          </a:xfrm>
          <a:prstGeom prst="rect">
            <a:avLst/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2416" y="5815585"/>
            <a:ext cx="102714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C2B22"/>
                </a:solidFill>
                <a:latin typeface="Segoe UI"/>
              </a:rPr>
              <a:t>À RETENIR  ·  Démarche reproductible : chaque modèle est ajusté en R et en Python, avec les mêmes découpages temporels.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3B2E"/>
              </a:gs>
              <a:gs pos="100000">
                <a:srgbClr val="0F7C6C"/>
              </a:gs>
            </a:gsLst>
            <a:lin scaled="0" ang="19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9144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9144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9144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9144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9144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18872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0" y="118872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118872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66960" y="118872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0" y="118872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0" y="118872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146304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0" y="146304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92640" y="146304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146304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0" y="146304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146304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173736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0" y="173736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0" y="173736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73736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73736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173736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201168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0" y="201168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40" y="201168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66960" y="201168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1280" y="201168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5600" y="201168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22860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0" y="22860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92640" y="22860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66960" y="22860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41280" y="22860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5600" y="2286000"/>
            <a:ext cx="68580" cy="68580"/>
          </a:xfrm>
          <a:prstGeom prst="ellipse">
            <a:avLst/>
          </a:prstGeom>
          <a:solidFill>
            <a:srgbClr val="0F7C6C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B824"/>
                </a:solidFill>
                <a:latin typeface="Segoe UI"/>
              </a:rPr>
              <a:t>PARTIE 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8803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ahnschrift"/>
              </a:rPr>
              <a:t>Modélisation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886200"/>
            <a:ext cx="731520" cy="82296"/>
          </a:xfrm>
          <a:prstGeom prst="rect">
            <a:avLst/>
          </a:prstGeom>
          <a:solidFill>
            <a:srgbClr val="E9B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0F7C6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0F7C6C"/>
                </a:solidFill>
                <a:latin typeface="Segoe UI"/>
              </a:rPr>
              <a:t>03 · ARIMA / SARIMA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Ordres retenus par série et par outil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0F7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874519"/>
            <a:ext cx="3566160" cy="566928"/>
          </a:xfrm>
          <a:prstGeom prst="roundRect">
            <a:avLst>
              <a:gd name="adj" fmla="val 16000"/>
            </a:avLst>
          </a:prstGeom>
          <a:solidFill>
            <a:srgbClr val="0F7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874519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Série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1874519"/>
            <a:ext cx="3017520" cy="566928"/>
          </a:xfrm>
          <a:prstGeom prst="roundRect">
            <a:avLst>
              <a:gd name="adj" fmla="val 16000"/>
            </a:avLst>
          </a:prstGeom>
          <a:solidFill>
            <a:srgbClr val="0F7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1874519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ARIMA (Python)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1874519"/>
            <a:ext cx="3017520" cy="566928"/>
          </a:xfrm>
          <a:prstGeom prst="roundRect">
            <a:avLst>
              <a:gd name="adj" fmla="val 16000"/>
            </a:avLst>
          </a:prstGeom>
          <a:solidFill>
            <a:srgbClr val="0F7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1874519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ARIMA (R, auto)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1874519"/>
            <a:ext cx="1280160" cy="566928"/>
          </a:xfrm>
          <a:prstGeom prst="roundRect">
            <a:avLst>
              <a:gd name="adj" fmla="val 16000"/>
            </a:avLst>
          </a:prstGeom>
          <a:solidFill>
            <a:srgbClr val="0F7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1874519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2441447"/>
            <a:ext cx="3566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2441447"/>
            <a:ext cx="3566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2441447"/>
            <a:ext cx="3566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2441447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C2B22"/>
                </a:solidFill>
                <a:latin typeface="Segoe UI"/>
              </a:rPr>
              <a:t>Charge / Load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2441447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06240" y="2441447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06240" y="2441447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2441447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C6659"/>
                </a:solidFill>
                <a:latin typeface="Segoe UI"/>
              </a:rPr>
              <a:t>(2,1,2)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2441447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3760" y="2441447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23760" y="2441447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2441447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C6659"/>
                </a:solidFill>
                <a:latin typeface="Segoe UI"/>
              </a:rPr>
              <a:t>(2,1,1)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41280" y="2441447"/>
            <a:ext cx="1280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80" y="2441447"/>
            <a:ext cx="1280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41280" y="2441447"/>
            <a:ext cx="1280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41280" y="2441447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C6659"/>
                </a:solidFill>
                <a:latin typeface="Segoe U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008375"/>
            <a:ext cx="3566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3008375"/>
            <a:ext cx="3566160" cy="56692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3008375"/>
            <a:ext cx="3566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3008375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C2B22"/>
                </a:solidFill>
                <a:latin typeface="Segoe UI"/>
              </a:rPr>
              <a:t>Éolien / Wind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3008375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06240" y="3008375"/>
            <a:ext cx="3017520" cy="56692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206240" y="3008375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06240" y="3008375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C6659"/>
                </a:solidFill>
                <a:latin typeface="Segoe UI"/>
              </a:rPr>
              <a:t>(1,1,1)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3008375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23760" y="3008375"/>
            <a:ext cx="3017520" cy="56692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23760" y="3008375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23760" y="3008375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C6659"/>
                </a:solidFill>
                <a:latin typeface="Segoe UI"/>
              </a:rPr>
              <a:t>(1,1,0)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241280" y="3008375"/>
            <a:ext cx="1280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241280" y="3008375"/>
            <a:ext cx="1280160" cy="566928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241280" y="3008375"/>
            <a:ext cx="1280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41280" y="3008375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C6659"/>
                </a:solidFill>
                <a:latin typeface="Segoe U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" y="3575303"/>
            <a:ext cx="3566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" y="3575303"/>
            <a:ext cx="3566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0080" y="3575303"/>
            <a:ext cx="3566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3575303"/>
            <a:ext cx="3566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C2B22"/>
                </a:solidFill>
                <a:latin typeface="Segoe UI"/>
              </a:rPr>
              <a:t>Solaire / Solar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06240" y="3575303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06240" y="3575303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06240" y="3575303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06240" y="3575303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C6659"/>
                </a:solidFill>
                <a:latin typeface="Segoe UI"/>
              </a:rPr>
              <a:t>(1,1,1)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23760" y="3575303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23760" y="3575303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23760" y="3575303"/>
            <a:ext cx="301752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23760" y="3575303"/>
            <a:ext cx="30175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C6659"/>
                </a:solidFill>
                <a:latin typeface="Segoe UI"/>
              </a:rPr>
              <a:t>(1,1,1)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241280" y="3575303"/>
            <a:ext cx="1280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241280" y="3575303"/>
            <a:ext cx="1280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241280" y="3575303"/>
            <a:ext cx="1280160" cy="9525"/>
          </a:xfrm>
          <a:prstGeom prst="rect">
            <a:avLst/>
          </a:prstGeom>
          <a:solidFill>
            <a:srgbClr val="DC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41280" y="3575303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4C6659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4572000"/>
            <a:ext cx="108813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F7C6C"/>
                </a:solidFill>
                <a:latin typeface="Segoe UI"/>
              </a:rPr>
              <a:t>▸ </a:t>
            </a:r>
            <a:r>
              <a:rPr sz="1300" b="0">
                <a:solidFill>
                  <a:srgbClr val="4C6659"/>
                </a:solidFill>
                <a:latin typeface="Segoe UI"/>
              </a:rPr>
              <a:t>Les ordres sont </a:t>
            </a:r>
            <a:r>
              <a:rPr sz="1300" b="1">
                <a:solidFill>
                  <a:srgbClr val="0C2B22"/>
                </a:solidFill>
                <a:latin typeface="Segoe UI"/>
              </a:rPr>
              <a:t>proches</a:t>
            </a:r>
            <a:r>
              <a:rPr sz="1300" b="0">
                <a:solidFill>
                  <a:srgbClr val="4C6659"/>
                </a:solidFill>
                <a:latin typeface="Segoe UI"/>
              </a:rPr>
              <a:t> entre R et Python : les deux outils convergent.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F7C6C"/>
                </a:solidFill>
                <a:latin typeface="Segoe UI"/>
              </a:rPr>
              <a:t>▸ </a:t>
            </a:r>
            <a:r>
              <a:rPr sz="1300" b="0">
                <a:solidFill>
                  <a:srgbClr val="4C6659"/>
                </a:solidFill>
                <a:latin typeface="Segoe UI"/>
              </a:rPr>
              <a:t>La saisonnalité journalière est capturée via un terme </a:t>
            </a:r>
            <a:r>
              <a:rPr sz="1300" b="1">
                <a:solidFill>
                  <a:srgbClr val="0C2B22"/>
                </a:solidFill>
                <a:latin typeface="Segoe UI"/>
              </a:rPr>
              <a:t>SARIMA</a:t>
            </a:r>
            <a:r>
              <a:rPr sz="1300" b="0">
                <a:solidFill>
                  <a:srgbClr val="4C6659"/>
                </a:solidFill>
                <a:latin typeface="Segoe UI"/>
              </a:rPr>
              <a:t> (P,D,Q,24).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0F7C6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0F7C6C"/>
                </a:solidFill>
                <a:latin typeface="Segoe UI"/>
              </a:rPr>
              <a:t>03 · ARIMA / SARIMA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Précision sur la charge à court terme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0F7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828800"/>
            <a:ext cx="2331720" cy="1600200"/>
          </a:xfrm>
          <a:prstGeom prst="roundRect">
            <a:avLst>
              <a:gd name="adj" fmla="val 14000"/>
            </a:avLst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" y="2084832"/>
            <a:ext cx="402336" cy="73152"/>
          </a:xfrm>
          <a:prstGeom prst="roundRect">
            <a:avLst>
              <a:gd name="adj" fmla="val 50000"/>
            </a:avLst>
          </a:prstGeom>
          <a:solidFill>
            <a:srgbClr val="0F7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2286000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7C6C"/>
                </a:solidFill>
                <a:latin typeface="Bahnschrift"/>
              </a:rPr>
              <a:t>899 MW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606040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10">
                <a:solidFill>
                  <a:srgbClr val="4C6659"/>
                </a:solidFill>
                <a:latin typeface="Segoe UI"/>
              </a:rPr>
              <a:t>RMSE · h = 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08960" y="1828800"/>
            <a:ext cx="2331720" cy="1600200"/>
          </a:xfrm>
          <a:prstGeom prst="roundRect">
            <a:avLst>
              <a:gd name="adj" fmla="val 14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64992" y="2084832"/>
            <a:ext cx="402336" cy="73152"/>
          </a:xfrm>
          <a:prstGeom prst="roundRect">
            <a:avLst>
              <a:gd name="adj" fmla="val 50000"/>
            </a:avLst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64992" y="2286000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4855A"/>
                </a:solidFill>
                <a:latin typeface="Bahnschrift"/>
              </a:rPr>
              <a:t>1,4 %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64992" y="2606040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10">
                <a:solidFill>
                  <a:srgbClr val="4C6659"/>
                </a:solidFill>
                <a:latin typeface="Segoe UI"/>
              </a:rPr>
              <a:t>MAPE · h = 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611880"/>
            <a:ext cx="2331720" cy="1600200"/>
          </a:xfrm>
          <a:prstGeom prst="roundRect">
            <a:avLst>
              <a:gd name="adj" fmla="val 14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6112" y="3867912"/>
            <a:ext cx="402336" cy="73152"/>
          </a:xfrm>
          <a:prstGeom prst="roundRect">
            <a:avLst>
              <a:gd name="adj" fmla="val 50000"/>
            </a:avLst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069080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4855A"/>
                </a:solidFill>
                <a:latin typeface="Bahnschrift"/>
              </a:rPr>
              <a:t>1 069 MW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4389120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10">
                <a:solidFill>
                  <a:srgbClr val="4C6659"/>
                </a:solidFill>
                <a:latin typeface="Segoe UI"/>
              </a:rPr>
              <a:t>RMSE · h = 24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08960" y="3611880"/>
            <a:ext cx="2331720" cy="1600200"/>
          </a:xfrm>
          <a:prstGeom prst="roundRect">
            <a:avLst>
              <a:gd name="adj" fmla="val 14000"/>
            </a:avLst>
          </a:prstGeom>
          <a:solidFill>
            <a:srgbClr val="E2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64992" y="3867912"/>
            <a:ext cx="402336" cy="73152"/>
          </a:xfrm>
          <a:prstGeom prst="roundRect">
            <a:avLst>
              <a:gd name="adj" fmla="val 50000"/>
            </a:avLst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4992" y="4069080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34C08A"/>
                </a:solidFill>
                <a:latin typeface="Bahnschrift"/>
              </a:rPr>
              <a:t>1,5 %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2" y="4389120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10">
                <a:solidFill>
                  <a:srgbClr val="4C6659"/>
                </a:solidFill>
                <a:latin typeface="Segoe UI"/>
              </a:rPr>
              <a:t>MAPE · h = 24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59552" y="1901952"/>
            <a:ext cx="6126480" cy="3520440"/>
          </a:xfrm>
          <a:prstGeom prst="roundRect">
            <a:avLst>
              <a:gd name="adj" fmla="val 5000"/>
            </a:avLst>
          </a:prstGeom>
          <a:solidFill>
            <a:srgbClr val="14855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40680" y="1783080"/>
            <a:ext cx="612648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_prev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2102548"/>
            <a:ext cx="5833872" cy="255231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586984" y="4974336"/>
            <a:ext cx="58338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7A092"/>
                </a:solidFill>
                <a:latin typeface="Segoe UI"/>
              </a:rPr>
              <a:t>R (forecast) : prévision de la charge vs valeurs observées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0F7C6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0F7C6C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0F7C6C"/>
                </a:solidFill>
                <a:latin typeface="Segoe UI"/>
              </a:rPr>
              <a:t>03 · VAR / VECM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Dynamique multivariée et réponse impulsionnelle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0F7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1901952"/>
            <a:ext cx="6858000" cy="3520440"/>
          </a:xfrm>
          <a:prstGeom prst="roundRect">
            <a:avLst>
              <a:gd name="adj" fmla="val 5000"/>
            </a:avLst>
          </a:prstGeom>
          <a:solidFill>
            <a:srgbClr val="14855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1783080"/>
            <a:ext cx="685800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y_var_irf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878" y="1929384"/>
            <a:ext cx="6280404" cy="28986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6384" y="4974336"/>
            <a:ext cx="6565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7A092"/>
                </a:solidFill>
                <a:latin typeface="Segoe UI"/>
              </a:rPr>
              <a:t>Fonctions de réponse impulsionnelle (IRF) sur la charge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828800"/>
            <a:ext cx="38404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F7C6C"/>
                </a:solidFill>
                <a:latin typeface="Segoe UI"/>
              </a:rPr>
              <a:t>▸ </a:t>
            </a:r>
            <a:r>
              <a:rPr sz="1250" b="1">
                <a:solidFill>
                  <a:srgbClr val="0C2B22"/>
                </a:solidFill>
                <a:latin typeface="Segoe UI"/>
              </a:rPr>
              <a:t>Test de causalité de Granger</a:t>
            </a:r>
            <a:r>
              <a:rPr sz="1250" b="0">
                <a:solidFill>
                  <a:srgbClr val="4C6659"/>
                </a:solidFill>
                <a:latin typeface="Segoe UI"/>
              </a:rPr>
              <a:t> : les trois séries s'influencent mutuellement.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F7C6C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Coïntégration détectée (</a:t>
            </a:r>
            <a:r>
              <a:rPr sz="1250" b="1">
                <a:solidFill>
                  <a:srgbClr val="0C2B22"/>
                </a:solidFill>
                <a:latin typeface="Segoe UI"/>
              </a:rPr>
              <a:t>Johansen</a:t>
            </a:r>
            <a:r>
              <a:rPr sz="1250" b="0">
                <a:solidFill>
                  <a:srgbClr val="4C6659"/>
                </a:solidFill>
                <a:latin typeface="Segoe UI"/>
              </a:rPr>
              <a:t>) → estimation d'un </a:t>
            </a:r>
            <a:r>
              <a:rPr sz="1250" b="1">
                <a:solidFill>
                  <a:srgbClr val="0C2B22"/>
                </a:solidFill>
                <a:latin typeface="Segoe UI"/>
              </a:rPr>
              <a:t>VECM</a:t>
            </a:r>
            <a:r>
              <a:rPr sz="1250" b="0">
                <a:solidFill>
                  <a:srgbClr val="4C6659"/>
                </a:solidFill>
                <a:latin typeface="Segoe UI"/>
              </a:rPr>
              <a:t> à terme d'erreur.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F7C6C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Les </a:t>
            </a:r>
            <a:r>
              <a:rPr sz="1250" b="1">
                <a:solidFill>
                  <a:srgbClr val="0C2B22"/>
                </a:solidFill>
                <a:latin typeface="Segoe UI"/>
              </a:rPr>
              <a:t>IRF</a:t>
            </a:r>
            <a:r>
              <a:rPr sz="1250" b="0">
                <a:solidFill>
                  <a:srgbClr val="4C6659"/>
                </a:solidFill>
                <a:latin typeface="Segoe UI"/>
              </a:rPr>
              <a:t> quantifient l'effet d'un choc de production éolienne sur la charge sur 24 h.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0F7C6C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Approche </a:t>
            </a:r>
            <a:r>
              <a:rPr sz="1250" b="1">
                <a:solidFill>
                  <a:srgbClr val="0C2B22"/>
                </a:solidFill>
                <a:latin typeface="Segoe UI"/>
              </a:rPr>
              <a:t>multivariée</a:t>
            </a:r>
            <a:r>
              <a:rPr sz="1250" b="0">
                <a:solidFill>
                  <a:srgbClr val="4C6659"/>
                </a:solidFill>
                <a:latin typeface="Segoe UI"/>
              </a:rPr>
              <a:t> utile car les variables ne sont pas indépendantes.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E2703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E2703A"/>
                </a:solidFill>
                <a:latin typeface="Segoe UI"/>
              </a:rPr>
              <a:t>03 · GARCH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Modéliser la volatilité de l'éolien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E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1828800"/>
            <a:ext cx="57607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L'</a:t>
            </a:r>
            <a:r>
              <a:rPr sz="1450" b="1">
                <a:solidFill>
                  <a:srgbClr val="0C2B22"/>
                </a:solidFill>
                <a:latin typeface="Segoe UI"/>
              </a:rPr>
              <a:t>éolien</a:t>
            </a:r>
            <a:r>
              <a:rPr sz="1450" b="0">
                <a:solidFill>
                  <a:srgbClr val="4C6659"/>
                </a:solidFill>
                <a:latin typeface="Segoe UI"/>
              </a:rPr>
              <a:t> présente une </a:t>
            </a:r>
            <a:r>
              <a:rPr sz="1450" b="1">
                <a:solidFill>
                  <a:srgbClr val="0C2B22"/>
                </a:solidFill>
                <a:latin typeface="Segoe UI"/>
              </a:rPr>
              <a:t>volatilité conditionnelle</a:t>
            </a:r>
            <a:r>
              <a:rPr sz="1450" b="0">
                <a:solidFill>
                  <a:srgbClr val="4C6659"/>
                </a:solidFill>
                <a:latin typeface="Segoe UI"/>
              </a:rPr>
              <a:t> : les périodes calmes et agitées alternent.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Un modèle </a:t>
            </a:r>
            <a:r>
              <a:rPr sz="1450" b="1">
                <a:solidFill>
                  <a:srgbClr val="0C2B22"/>
                </a:solidFill>
                <a:latin typeface="Segoe UI"/>
              </a:rPr>
              <a:t>GARCH(1,1)</a:t>
            </a:r>
            <a:r>
              <a:rPr sz="1450" b="0">
                <a:solidFill>
                  <a:srgbClr val="4C6659"/>
                </a:solidFill>
                <a:latin typeface="Segoe UI"/>
              </a:rPr>
              <a:t> (via `rugarch` en R) capture le </a:t>
            </a:r>
            <a:r>
              <a:rPr sz="1450" b="1">
                <a:solidFill>
                  <a:srgbClr val="0C2B22"/>
                </a:solidFill>
                <a:latin typeface="Segoe UI"/>
              </a:rPr>
              <a:t>clustering</a:t>
            </a:r>
            <a:r>
              <a:rPr sz="1450" b="0">
                <a:solidFill>
                  <a:srgbClr val="4C6659"/>
                </a:solidFill>
                <a:latin typeface="Segoe UI"/>
              </a:rPr>
              <a:t> de volatilité.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Il fournit des </a:t>
            </a:r>
            <a:r>
              <a:rPr sz="1450" b="1">
                <a:solidFill>
                  <a:srgbClr val="0C2B22"/>
                </a:solidFill>
                <a:latin typeface="Segoe UI"/>
              </a:rPr>
              <a:t>intervalles de prévision</a:t>
            </a:r>
            <a:r>
              <a:rPr sz="1450" b="0">
                <a:solidFill>
                  <a:srgbClr val="4C6659"/>
                </a:solidFill>
                <a:latin typeface="Segoe UI"/>
              </a:rPr>
              <a:t> réalistes qui s'élargissent lors des épisodes venteux extrêmes.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450" b="0">
                <a:solidFill>
                  <a:srgbClr val="4C6659"/>
                </a:solidFill>
                <a:latin typeface="Segoe UI"/>
              </a:rPr>
              <a:t>Utile pour le </a:t>
            </a:r>
            <a:r>
              <a:rPr sz="1450" b="1">
                <a:solidFill>
                  <a:srgbClr val="0C2B22"/>
                </a:solidFill>
                <a:latin typeface="Segoe UI"/>
              </a:rPr>
              <a:t>pilotage des marges</a:t>
            </a:r>
            <a:r>
              <a:rPr sz="1450" b="0">
                <a:solidFill>
                  <a:srgbClr val="4C6659"/>
                </a:solidFill>
                <a:latin typeface="Segoe UI"/>
              </a:rPr>
              <a:t> et la gestion du risque réseau.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76872" y="1901952"/>
            <a:ext cx="4709160" cy="3520440"/>
          </a:xfrm>
          <a:prstGeom prst="roundRect">
            <a:avLst>
              <a:gd name="adj" fmla="val 5000"/>
            </a:avLst>
          </a:prstGeom>
          <a:solidFill>
            <a:srgbClr val="14855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0" y="1783080"/>
            <a:ext cx="470916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_garch_W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2274570"/>
            <a:ext cx="4416552" cy="22082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04304" y="4974336"/>
            <a:ext cx="44165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7A092"/>
                </a:solidFill>
                <a:latin typeface="Segoe UI"/>
              </a:rPr>
              <a:t>R (rugarch) : volatilité conditionnelle du vent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34C08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34C08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34C08A"/>
                </a:solidFill>
                <a:latin typeface="Segoe UI"/>
              </a:rPr>
              <a:t>03 · DEEP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Récurrent : LSTM et GRU sous Keras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1901952"/>
            <a:ext cx="6858000" cy="3520440"/>
          </a:xfrm>
          <a:prstGeom prst="roundRect">
            <a:avLst>
              <a:gd name="adj" fmla="val 5000"/>
            </a:avLst>
          </a:prstGeom>
          <a:solidFill>
            <a:srgbClr val="14855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1783080"/>
            <a:ext cx="685800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y_lstm_gru_loss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85000"/>
            <a:ext cx="6565392" cy="238741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6384" y="4974336"/>
            <a:ext cx="6565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7A092"/>
                </a:solidFill>
                <a:latin typeface="Segoe UI"/>
              </a:rPr>
              <a:t>Courbes de perte (MSE) de l'entraînement LSTM vs GRU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828800"/>
            <a:ext cx="38404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Réseaux </a:t>
            </a:r>
            <a:r>
              <a:rPr sz="1250" b="1">
                <a:solidFill>
                  <a:srgbClr val="0C2B22"/>
                </a:solidFill>
                <a:latin typeface="Segoe UI"/>
              </a:rPr>
              <a:t>LSTM</a:t>
            </a:r>
            <a:r>
              <a:rPr sz="1250" b="0">
                <a:solidFill>
                  <a:srgbClr val="4C6659"/>
                </a:solidFill>
                <a:latin typeface="Segoe UI"/>
              </a:rPr>
              <a:t> et </a:t>
            </a:r>
            <a:r>
              <a:rPr sz="1250" b="1">
                <a:solidFill>
                  <a:srgbClr val="0C2B22"/>
                </a:solidFill>
                <a:latin typeface="Segoe UI"/>
              </a:rPr>
              <a:t>GRU</a:t>
            </a:r>
            <a:r>
              <a:rPr sz="1250" b="0">
                <a:solidFill>
                  <a:srgbClr val="4C6659"/>
                </a:solidFill>
                <a:latin typeface="Segoe UI"/>
              </a:rPr>
              <a:t> entraînés sous </a:t>
            </a:r>
            <a:r>
              <a:rPr sz="1250" b="1">
                <a:solidFill>
                  <a:srgbClr val="0C2B22"/>
                </a:solidFill>
                <a:latin typeface="Segoe UI"/>
              </a:rPr>
              <a:t>Keras/TensorFlow</a:t>
            </a:r>
            <a:r>
              <a:rPr sz="1250" b="0">
                <a:solidFill>
                  <a:srgbClr val="4C6659"/>
                </a:solidFill>
                <a:latin typeface="Segoe UI"/>
              </a:rPr>
              <a:t> avec fenêtres glissantes.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Les modèles apprennent </a:t>
            </a:r>
            <a:r>
              <a:rPr sz="1250" b="1">
                <a:solidFill>
                  <a:srgbClr val="0C2B22"/>
                </a:solidFill>
                <a:latin typeface="Segoe UI"/>
              </a:rPr>
              <a:t>mémoire longue + saisonnalité</a:t>
            </a:r>
            <a:r>
              <a:rPr sz="1250" b="0">
                <a:solidFill>
                  <a:srgbClr val="4C6659"/>
                </a:solidFill>
                <a:latin typeface="Segoe UI"/>
              </a:rPr>
              <a:t> sans feature engineering manuel.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Convergence stable ; le </a:t>
            </a:r>
            <a:r>
              <a:rPr sz="1250" b="1">
                <a:solidFill>
                  <a:srgbClr val="0C2B22"/>
                </a:solidFill>
                <a:latin typeface="Segoe UI"/>
              </a:rPr>
              <a:t>GRU</a:t>
            </a:r>
            <a:r>
              <a:rPr sz="1250" b="0">
                <a:solidFill>
                  <a:srgbClr val="4C6659"/>
                </a:solidFill>
                <a:latin typeface="Segoe UI"/>
              </a:rPr>
              <a:t>, plus léger, est souvent compétitif.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En </a:t>
            </a:r>
            <a:r>
              <a:rPr sz="1250" b="1">
                <a:solidFill>
                  <a:srgbClr val="0C2B22"/>
                </a:solidFill>
                <a:latin typeface="Segoe UI"/>
              </a:rPr>
              <a:t>walk-forward</a:t>
            </a:r>
            <a:r>
              <a:rPr sz="1250" b="0">
                <a:solidFill>
                  <a:srgbClr val="4C6659"/>
                </a:solidFill>
                <a:latin typeface="Segoe UI"/>
              </a:rPr>
              <a:t>, le LSTM généralise bien au COVID (790 / 705 / 1 295 MW).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E9B824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E9B824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E9B824"/>
                </a:solidFill>
                <a:latin typeface="Segoe UI"/>
              </a:rPr>
              <a:t>03 · PROPHET &amp; HYBRIDE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Modèle hybride et tendances longues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E9B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1901952"/>
            <a:ext cx="6858000" cy="3520440"/>
          </a:xfrm>
          <a:prstGeom prst="roundRect">
            <a:avLst>
              <a:gd name="adj" fmla="val 5000"/>
            </a:avLst>
          </a:prstGeom>
          <a:solidFill>
            <a:srgbClr val="14855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1783080"/>
            <a:ext cx="685800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y_hybrid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878" y="1929384"/>
            <a:ext cx="6280404" cy="28986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6384" y="4974336"/>
            <a:ext cx="6565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7A092"/>
                </a:solidFill>
                <a:latin typeface="Segoe UI"/>
              </a:rPr>
              <a:t>Composition du modèle hybride (résidu + série)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1828800"/>
            <a:ext cx="38404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9B824"/>
                </a:solidFill>
                <a:latin typeface="Segoe UI"/>
              </a:rPr>
              <a:t>▸ </a:t>
            </a:r>
            <a:r>
              <a:rPr sz="1250" b="1">
                <a:solidFill>
                  <a:srgbClr val="0C2B22"/>
                </a:solidFill>
                <a:latin typeface="Segoe UI"/>
              </a:rPr>
              <a:t>Prophet</a:t>
            </a:r>
            <a:r>
              <a:rPr sz="1250" b="0">
                <a:solidFill>
                  <a:srgbClr val="4C6659"/>
                </a:solidFill>
                <a:latin typeface="Segoe UI"/>
              </a:rPr>
              <a:t> décompose </a:t>
            </a:r>
            <a:r>
              <a:rPr sz="1250" b="1">
                <a:solidFill>
                  <a:srgbClr val="0C2B22"/>
                </a:solidFill>
                <a:latin typeface="Segoe UI"/>
              </a:rPr>
              <a:t>tendance + saisonnalités + jours fériés</a:t>
            </a:r>
            <a:r>
              <a:rPr sz="1250" b="0">
                <a:solidFill>
                  <a:srgbClr val="4C6659"/>
                </a:solidFill>
                <a:latin typeface="Segoe UI"/>
              </a:rPr>
              <a:t>, très lisible.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9B824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Le </a:t>
            </a:r>
            <a:r>
              <a:rPr sz="1250" b="1">
                <a:solidFill>
                  <a:srgbClr val="0C2B22"/>
                </a:solidFill>
                <a:latin typeface="Segoe UI"/>
              </a:rPr>
              <a:t>modèle hybride</a:t>
            </a:r>
            <a:r>
              <a:rPr sz="1250" b="0">
                <a:solidFill>
                  <a:srgbClr val="4C6659"/>
                </a:solidFill>
                <a:latin typeface="Segoe UI"/>
              </a:rPr>
              <a:t> combine une partie </a:t>
            </a:r>
            <a:r>
              <a:rPr sz="1250" b="1">
                <a:solidFill>
                  <a:srgbClr val="0C2B22"/>
                </a:solidFill>
                <a:latin typeface="Segoe UI"/>
              </a:rPr>
              <a:t>linéaire</a:t>
            </a:r>
            <a:r>
              <a:rPr sz="1250" b="0">
                <a:solidFill>
                  <a:srgbClr val="4C6659"/>
                </a:solidFill>
                <a:latin typeface="Segoe UI"/>
              </a:rPr>
              <a:t> (ARIMA) et une partie </a:t>
            </a:r>
            <a:r>
              <a:rPr sz="1250" b="1">
                <a:solidFill>
                  <a:srgbClr val="0C2B22"/>
                </a:solidFill>
                <a:latin typeface="Segoe UI"/>
              </a:rPr>
              <a:t>non linéaire</a:t>
            </a:r>
            <a:r>
              <a:rPr sz="1250" b="0">
                <a:solidFill>
                  <a:srgbClr val="4C6659"/>
                </a:solidFill>
                <a:latin typeface="Segoe UI"/>
              </a:rPr>
              <a:t> (résidu appris).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9B824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Excellent sur les </a:t>
            </a:r>
            <a:r>
              <a:rPr sz="1250" b="1">
                <a:solidFill>
                  <a:srgbClr val="0C2B22"/>
                </a:solidFill>
                <a:latin typeface="Segoe UI"/>
              </a:rPr>
              <a:t>tendances longues</a:t>
            </a:r>
            <a:r>
              <a:rPr sz="1250" b="0">
                <a:solidFill>
                  <a:srgbClr val="4C6659"/>
                </a:solidFill>
                <a:latin typeface="Segoe UI"/>
              </a:rPr>
              <a:t>, le point faible des modèles purement statistiques.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9B824"/>
                </a:solidFill>
                <a:latin typeface="Segoe UI"/>
              </a:rPr>
              <a:t>▸ </a:t>
            </a:r>
            <a:r>
              <a:rPr sz="1250" b="0">
                <a:solidFill>
                  <a:srgbClr val="4C6659"/>
                </a:solidFill>
                <a:latin typeface="Segoe UI"/>
              </a:rPr>
              <a:t>Amélioration notable sur l'horizon </a:t>
            </a:r>
            <a:r>
              <a:rPr sz="1250" b="1">
                <a:solidFill>
                  <a:srgbClr val="0C2B22"/>
                </a:solidFill>
                <a:latin typeface="Segoe UI"/>
              </a:rPr>
              <a:t>5 040 h</a:t>
            </a:r>
            <a:r>
              <a:rPr sz="1250" b="0">
                <a:solidFill>
                  <a:srgbClr val="4C6659"/>
                </a:solidFill>
                <a:latin typeface="Segoe UI"/>
              </a:rPr>
              <a:t> face à la naïve.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3B2E"/>
              </a:gs>
              <a:gs pos="100000">
                <a:srgbClr val="E2703A"/>
              </a:gs>
            </a:gsLst>
            <a:lin scaled="0" ang="19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9144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9144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9144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9144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9144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18872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0" y="118872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118872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66960" y="118872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0" y="118872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0" y="118872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146304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0" y="146304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92640" y="146304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146304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41280" y="146304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0" y="146304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0" y="173736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0" y="173736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0" y="173736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73736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73736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173736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0" y="201168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0" y="201168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40" y="201168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66960" y="201168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41280" y="201168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5600" y="201168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22860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0" y="22860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92640" y="22860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66960" y="22860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41280" y="22860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5600" y="2286000"/>
            <a:ext cx="68580" cy="68580"/>
          </a:xfrm>
          <a:prstGeom prst="ellipse">
            <a:avLst/>
          </a:prstGeom>
          <a:solidFill>
            <a:srgbClr val="E2703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34C08A"/>
                </a:solidFill>
                <a:latin typeface="Segoe UI"/>
              </a:rPr>
              <a:t>PARTIE 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8803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ahnschrift"/>
              </a:rPr>
              <a:t>Évaluation &amp; conclusion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886200"/>
            <a:ext cx="731520" cy="82296"/>
          </a:xfrm>
          <a:prstGeom prst="rect">
            <a:avLst/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E2703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E2703A"/>
                </a:solidFill>
                <a:latin typeface="Segoe UI"/>
              </a:rPr>
              <a:t>04 · ÉVALUATION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RMSE comparés entre les familles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E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1901952"/>
            <a:ext cx="7315200" cy="3520440"/>
          </a:xfrm>
          <a:prstGeom prst="roundRect">
            <a:avLst>
              <a:gd name="adj" fmla="val 5000"/>
            </a:avLst>
          </a:prstGeom>
          <a:solidFill>
            <a:srgbClr val="14855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1783080"/>
            <a:ext cx="731520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y_evaluation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281428"/>
            <a:ext cx="7022592" cy="2194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6384" y="4974336"/>
            <a:ext cx="70225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7A092"/>
                </a:solidFill>
                <a:latin typeface="Segoe UI"/>
              </a:rPr>
              <a:t>RMSE par modèle et par horizon (charge)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1828800"/>
            <a:ext cx="34290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200" b="0">
                <a:solidFill>
                  <a:srgbClr val="4C6659"/>
                </a:solidFill>
                <a:latin typeface="Segoe UI"/>
              </a:rPr>
              <a:t>Métriques : </a:t>
            </a:r>
            <a:r>
              <a:rPr sz="1200" b="1">
                <a:solidFill>
                  <a:srgbClr val="0C2B22"/>
                </a:solidFill>
                <a:latin typeface="Segoe UI"/>
              </a:rPr>
              <a:t>RMSE</a:t>
            </a:r>
            <a:r>
              <a:rPr sz="1200" b="0">
                <a:solidFill>
                  <a:srgbClr val="4C6659"/>
                </a:solidFill>
                <a:latin typeface="Segoe UI"/>
              </a:rPr>
              <a:t> (MW), </a:t>
            </a:r>
            <a:r>
              <a:rPr sz="1200" b="1">
                <a:solidFill>
                  <a:srgbClr val="0C2B22"/>
                </a:solidFill>
                <a:latin typeface="Segoe UI"/>
              </a:rPr>
              <a:t>MAPE</a:t>
            </a:r>
            <a:r>
              <a:rPr sz="1200" b="0">
                <a:solidFill>
                  <a:srgbClr val="4C6659"/>
                </a:solidFill>
                <a:latin typeface="Segoe UI"/>
              </a:rPr>
              <a:t> (%), comparaison à la </a:t>
            </a:r>
            <a:r>
              <a:rPr sz="1200" b="1">
                <a:solidFill>
                  <a:srgbClr val="0C2B22"/>
                </a:solidFill>
                <a:latin typeface="Segoe UI"/>
              </a:rPr>
              <a:t>persistance naïve</a:t>
            </a:r>
            <a:r>
              <a:rPr sz="1200" b="0">
                <a:solidFill>
                  <a:srgbClr val="4C6659"/>
                </a:solidFill>
                <a:latin typeface="Segoe UI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200" b="0">
                <a:solidFill>
                  <a:srgbClr val="4C6659"/>
                </a:solidFill>
                <a:latin typeface="Segoe UI"/>
              </a:rPr>
              <a:t>À </a:t>
            </a:r>
            <a:r>
              <a:rPr sz="1200" b="1">
                <a:solidFill>
                  <a:srgbClr val="0C2B22"/>
                </a:solidFill>
                <a:latin typeface="Segoe UI"/>
              </a:rPr>
              <a:t>h = 10</a:t>
            </a:r>
            <a:r>
              <a:rPr sz="1200" b="0">
                <a:solidFill>
                  <a:srgbClr val="4C6659"/>
                </a:solidFill>
                <a:latin typeface="Segoe UI"/>
              </a:rPr>
              <a:t>, ARIMA_auto (R) est le meilleur (</a:t>
            </a:r>
            <a:r>
              <a:rPr sz="1200" b="1">
                <a:solidFill>
                  <a:srgbClr val="0C2B22"/>
                </a:solidFill>
                <a:latin typeface="Segoe UI"/>
              </a:rPr>
              <a:t>512</a:t>
            </a:r>
            <a:r>
              <a:rPr sz="1200" b="0">
                <a:solidFill>
                  <a:srgbClr val="4C6659"/>
                </a:solidFill>
                <a:latin typeface="Segoe UI"/>
              </a:rPr>
              <a:t> sur l'éolien).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200" b="0">
                <a:solidFill>
                  <a:srgbClr val="4C6659"/>
                </a:solidFill>
                <a:latin typeface="Segoe UI"/>
              </a:rPr>
              <a:t>À </a:t>
            </a:r>
            <a:r>
              <a:rPr sz="1200" b="1">
                <a:solidFill>
                  <a:srgbClr val="0C2B22"/>
                </a:solidFill>
                <a:latin typeface="Segoe UI"/>
              </a:rPr>
              <a:t>h = 5 040</a:t>
            </a:r>
            <a:r>
              <a:rPr sz="1200" b="0">
                <a:solidFill>
                  <a:srgbClr val="4C6659"/>
                </a:solidFill>
                <a:latin typeface="Segoe UI"/>
              </a:rPr>
              <a:t>, le LSTM (</a:t>
            </a:r>
            <a:r>
              <a:rPr sz="1200" b="1">
                <a:solidFill>
                  <a:srgbClr val="0C2B22"/>
                </a:solidFill>
                <a:latin typeface="Segoe UI"/>
              </a:rPr>
              <a:t>11 838</a:t>
            </a:r>
            <a:r>
              <a:rPr sz="1200" b="0">
                <a:solidFill>
                  <a:srgbClr val="4C6659"/>
                </a:solidFill>
                <a:latin typeface="Segoe UI"/>
              </a:rPr>
              <a:t>) écrase SARIMA (</a:t>
            </a:r>
            <a:r>
              <a:rPr sz="1200" b="1">
                <a:solidFill>
                  <a:srgbClr val="0C2B22"/>
                </a:solidFill>
                <a:latin typeface="Segoe UI"/>
              </a:rPr>
              <a:t>65 847</a:t>
            </a:r>
            <a:r>
              <a:rPr sz="1200" b="0">
                <a:solidFill>
                  <a:srgbClr val="4C6659"/>
                </a:solidFill>
                <a:latin typeface="Segoe UI"/>
              </a:rPr>
              <a:t>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200" b="0">
                <a:solidFill>
                  <a:srgbClr val="4C6659"/>
                </a:solidFill>
                <a:latin typeface="Segoe UI"/>
              </a:rPr>
              <a:t>Le </a:t>
            </a:r>
            <a:r>
              <a:rPr sz="1200" b="1">
                <a:solidFill>
                  <a:srgbClr val="0C2B22"/>
                </a:solidFill>
                <a:latin typeface="Segoe UI"/>
              </a:rPr>
              <a:t>walk-forward</a:t>
            </a:r>
            <a:r>
              <a:rPr sz="1200" b="0">
                <a:solidFill>
                  <a:srgbClr val="4C6659"/>
                </a:solidFill>
                <a:latin typeface="Segoe UI"/>
              </a:rPr>
              <a:t> valide la robustesse face aux régimes changeants.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E2703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E2703A"/>
                </a:solidFill>
                <a:latin typeface="Segoe UI"/>
              </a:rPr>
              <a:t>04 · SYNTHÈSE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Quel modèle pour quel horizon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E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828800"/>
            <a:ext cx="3454298" cy="3383280"/>
          </a:xfrm>
          <a:prstGeom prst="roundRect">
            <a:avLst>
              <a:gd name="adj" fmla="val 9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2148840"/>
            <a:ext cx="28142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14855A"/>
                </a:solidFill>
                <a:latin typeface="Segoe UI"/>
              </a:rPr>
              <a:t>COURT TERME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2542032"/>
            <a:ext cx="28142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B22"/>
                </a:solidFill>
                <a:latin typeface="Bahnschrift"/>
              </a:rPr>
              <a:t>h = 5 · 10 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3154680"/>
            <a:ext cx="640080" cy="64008"/>
          </a:xfrm>
          <a:prstGeom prst="rect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520440"/>
            <a:ext cx="28142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C6659"/>
                </a:solidFill>
                <a:latin typeface="Segoe UI"/>
              </a:rPr>
              <a:t>ARIMA / SARIMA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4C6659"/>
                </a:solidFill>
                <a:latin typeface="Segoe UI"/>
              </a:rPr>
              <a:t>(charge : 899 MW)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8698" y="1828800"/>
            <a:ext cx="3454298" cy="3383280"/>
          </a:xfrm>
          <a:prstGeom prst="roundRect">
            <a:avLst>
              <a:gd name="adj" fmla="val 9000"/>
            </a:avLst>
          </a:prstGeom>
          <a:solidFill>
            <a:srgbClr val="E2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8738" y="2148840"/>
            <a:ext cx="28142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34C08A"/>
                </a:solidFill>
                <a:latin typeface="Segoe UI"/>
              </a:rPr>
              <a:t>MOYEN TERME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8738" y="2542032"/>
            <a:ext cx="28142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B22"/>
                </a:solidFill>
                <a:latin typeface="Bahnschrift"/>
              </a:rPr>
              <a:t>h = 24 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88738" y="3154680"/>
            <a:ext cx="640080" cy="64008"/>
          </a:xfrm>
          <a:prstGeom prst="rect">
            <a:avLst/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8738" y="3520440"/>
            <a:ext cx="28142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C6659"/>
                </a:solidFill>
                <a:latin typeface="Segoe UI"/>
              </a:rPr>
              <a:t>LSTM / GRU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4C6659"/>
                </a:solidFill>
                <a:latin typeface="Segoe UI"/>
              </a:rPr>
              <a:t>(robustes au profil horaire)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7316" y="1828800"/>
            <a:ext cx="3454298" cy="3383280"/>
          </a:xfrm>
          <a:prstGeom prst="roundRect">
            <a:avLst>
              <a:gd name="adj" fmla="val 9000"/>
            </a:avLst>
          </a:prstGeom>
          <a:solidFill>
            <a:srgbClr val="FC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7356" y="2148840"/>
            <a:ext cx="28142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150">
                <a:solidFill>
                  <a:srgbClr val="E9B824"/>
                </a:solidFill>
                <a:latin typeface="Segoe UI"/>
              </a:rPr>
              <a:t>LONG TERME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7356" y="2542032"/>
            <a:ext cx="28142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B22"/>
                </a:solidFill>
                <a:latin typeface="Bahnschrift"/>
              </a:rPr>
              <a:t>h = 5 040 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7356" y="3154680"/>
            <a:ext cx="640080" cy="64008"/>
          </a:xfrm>
          <a:prstGeom prst="rect">
            <a:avLst/>
          </a:prstGeom>
          <a:solidFill>
            <a:srgbClr val="E9B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7356" y="3520440"/>
            <a:ext cx="28142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C6659"/>
                </a:solidFill>
                <a:latin typeface="Segoe UI"/>
              </a:rPr>
              <a:t>Hybride &amp; Prophet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4C6659"/>
                </a:solidFill>
                <a:latin typeface="Segoe UI"/>
              </a:rPr>
              <a:t>(tendances longues)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815585"/>
            <a:ext cx="10911535" cy="566928"/>
          </a:xfrm>
          <a:prstGeom prst="roundRect">
            <a:avLst>
              <a:gd name="adj" fmla="val 30000"/>
            </a:avLst>
          </a:prstGeom>
          <a:solidFill>
            <a:srgbClr val="E2703A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" y="5980177"/>
            <a:ext cx="68580" cy="237744"/>
          </a:xfrm>
          <a:prstGeom prst="rect">
            <a:avLst/>
          </a:prstGeom>
          <a:solidFill>
            <a:srgbClr val="E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" y="5815585"/>
            <a:ext cx="1027145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C2B22"/>
                </a:solidFill>
                <a:latin typeface="Segoe UI"/>
              </a:rPr>
              <a:t>À RETENIR  ·  Il n'existe pas de modèle universel : la meilleure méthode dépend de l'horizon visé.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E2703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E2703A"/>
                </a:solidFill>
                <a:latin typeface="Segoe UI"/>
              </a:rPr>
              <a:t>04 · SIGNIFICATIVITÉ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Test de Diebold-Mariano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E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920240"/>
            <a:ext cx="3383280" cy="1737360"/>
          </a:xfrm>
          <a:prstGeom prst="roundRect">
            <a:avLst>
              <a:gd name="adj" fmla="val 14000"/>
            </a:avLst>
          </a:prstGeom>
          <a:solidFill>
            <a:srgbClr val="FB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" y="2176272"/>
            <a:ext cx="402336" cy="73152"/>
          </a:xfrm>
          <a:prstGeom prst="roundRect">
            <a:avLst>
              <a:gd name="adj" fmla="val 50000"/>
            </a:avLst>
          </a:prstGeom>
          <a:solidFill>
            <a:srgbClr val="E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23774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E2703A"/>
                </a:solidFill>
                <a:latin typeface="Bahnschrift"/>
              </a:rPr>
              <a:t>p &lt; 1e-60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8346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10">
                <a:solidFill>
                  <a:srgbClr val="4C6659"/>
                </a:solidFill>
                <a:latin typeface="Segoe UI"/>
              </a:rPr>
              <a:t>Significativité des écarts de RMSE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1920240"/>
            <a:ext cx="7863840" cy="1737360"/>
          </a:xfrm>
          <a:prstGeom prst="roundRect">
            <a:avLst>
              <a:gd name="adj" fmla="val 12000"/>
            </a:avLst>
          </a:prstGeom>
          <a:solidFill>
            <a:srgbClr val="E2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19" y="219456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0C2B22"/>
                </a:solidFill>
                <a:latin typeface="Segoe UI"/>
              </a:rPr>
              <a:t>Les différences de précision entre modèles ne sont pas dues au hasard : elles sont </a:t>
            </a:r>
            <a:r>
              <a:rPr sz="1500" b="1">
                <a:solidFill>
                  <a:srgbClr val="0C2B22"/>
                </a:solidFill>
                <a:latin typeface="Segoe UI"/>
              </a:rPr>
              <a:t>statistiquement significatives</a:t>
            </a:r>
            <a:r>
              <a:rPr sz="1500" b="0">
                <a:solidFill>
                  <a:srgbClr val="0C2B22"/>
                </a:solidFill>
                <a:latin typeface="Segoe UI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977639"/>
            <a:ext cx="10881360" cy="28803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350" b="0">
                <a:solidFill>
                  <a:srgbClr val="4C6659"/>
                </a:solidFill>
                <a:latin typeface="Segoe UI"/>
              </a:rPr>
              <a:t>Le test </a:t>
            </a:r>
            <a:r>
              <a:rPr sz="1350" b="1">
                <a:solidFill>
                  <a:srgbClr val="0C2B22"/>
                </a:solidFill>
                <a:latin typeface="Segoe UI"/>
              </a:rPr>
              <a:t>Diebold-Mariano</a:t>
            </a:r>
            <a:r>
              <a:rPr sz="1350" b="0">
                <a:solidFill>
                  <a:srgbClr val="4C6659"/>
                </a:solidFill>
                <a:latin typeface="Segoe UI"/>
              </a:rPr>
              <a:t> compare deux séries d'erreurs de prévision.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350" b="0">
                <a:solidFill>
                  <a:srgbClr val="4C6659"/>
                </a:solidFill>
                <a:latin typeface="Segoe UI"/>
              </a:rPr>
              <a:t>Sur l'horizon long, l'avantage du </a:t>
            </a:r>
            <a:r>
              <a:rPr sz="1350" b="1">
                <a:solidFill>
                  <a:srgbClr val="0C2B22"/>
                </a:solidFill>
                <a:latin typeface="Segoe UI"/>
              </a:rPr>
              <a:t>LSTM sur SARIMA</a:t>
            </a:r>
            <a:r>
              <a:rPr sz="1350" b="0">
                <a:solidFill>
                  <a:srgbClr val="4C6659"/>
                </a:solidFill>
                <a:latin typeface="Segoe UI"/>
              </a:rPr>
              <a:t> est hautement significatif.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34C08A"/>
                </a:solidFill>
                <a:latin typeface="Segoe UI"/>
              </a:rPr>
              <a:t>▸ </a:t>
            </a:r>
            <a:r>
              <a:rPr sz="1350" b="0">
                <a:solidFill>
                  <a:srgbClr val="4C6659"/>
                </a:solidFill>
                <a:latin typeface="Segoe UI"/>
              </a:rPr>
              <a:t>Résultat robuste sur l'ensemble des séries et des horizons testés.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E2703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E2703A"/>
                </a:solidFill>
                <a:latin typeface="Segoe UI"/>
              </a:rPr>
              <a:t>04 · RESTITUTION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Tableau de bord interactif Streamlit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E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1901952"/>
            <a:ext cx="7315200" cy="3520440"/>
          </a:xfrm>
          <a:prstGeom prst="roundRect">
            <a:avLst>
              <a:gd name="adj" fmla="val 5000"/>
            </a:avLst>
          </a:prstGeom>
          <a:solidFill>
            <a:srgbClr val="14855A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1783080"/>
            <a:ext cx="7315200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834" y="1929384"/>
            <a:ext cx="4271691" cy="28986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6384" y="4974336"/>
            <a:ext cx="70225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7A092"/>
                </a:solidFill>
                <a:latin typeface="Segoe UI"/>
              </a:rPr>
              <a:t>Aperçu du dashboard : exploration et prévisions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1828800"/>
            <a:ext cx="34290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200" b="1">
                <a:solidFill>
                  <a:srgbClr val="0C2B22"/>
                </a:solidFill>
                <a:latin typeface="Segoe UI"/>
              </a:rPr>
              <a:t>Dashboard Streamlit</a:t>
            </a:r>
            <a:r>
              <a:rPr sz="1200" b="0">
                <a:solidFill>
                  <a:srgbClr val="4C6659"/>
                </a:solidFill>
                <a:latin typeface="Segoe UI"/>
              </a:rPr>
              <a:t> pour explorer séries et prévisions interactivement.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200" b="0">
                <a:solidFill>
                  <a:srgbClr val="4C6659"/>
                </a:solidFill>
                <a:latin typeface="Segoe UI"/>
              </a:rPr>
              <a:t>Palette cohérente avec les figures : surlignage des séries clés.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200" b="0">
                <a:solidFill>
                  <a:srgbClr val="4C6659"/>
                </a:solidFill>
                <a:latin typeface="Segoe UI"/>
              </a:rPr>
              <a:t>Permet de </a:t>
            </a:r>
            <a:r>
              <a:rPr sz="1200" b="1">
                <a:solidFill>
                  <a:srgbClr val="0C2B22"/>
                </a:solidFill>
                <a:latin typeface="Segoe UI"/>
              </a:rPr>
              <a:t>comparer les modèles</a:t>
            </a:r>
            <a:r>
              <a:rPr sz="1200" b="0">
                <a:solidFill>
                  <a:srgbClr val="4C6659"/>
                </a:solidFill>
                <a:latin typeface="Segoe UI"/>
              </a:rPr>
              <a:t> et de visualiser les erreurs en temps réel.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E2703A"/>
                </a:solidFill>
                <a:latin typeface="Segoe UI"/>
              </a:rPr>
              <a:t>▸ </a:t>
            </a:r>
            <a:r>
              <a:rPr sz="1200" b="0">
                <a:solidFill>
                  <a:srgbClr val="4C6659"/>
                </a:solidFill>
                <a:latin typeface="Segoe UI"/>
              </a:rPr>
              <a:t>Outil de </a:t>
            </a:r>
            <a:r>
              <a:rPr sz="1200" b="1">
                <a:solidFill>
                  <a:srgbClr val="0C2B22"/>
                </a:solidFill>
                <a:latin typeface="Segoe UI"/>
              </a:rPr>
              <a:t>vulgarisation</a:t>
            </a:r>
            <a:r>
              <a:rPr sz="1200" b="0">
                <a:solidFill>
                  <a:srgbClr val="4C6659"/>
                </a:solidFill>
                <a:latin typeface="Segoe UI"/>
              </a:rPr>
              <a:t> pour un public non technique.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E2703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E2703A"/>
                </a:solidFill>
                <a:latin typeface="Segoe UI"/>
              </a:rPr>
              <a:t>04 · BILAN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Ce que le projet démontre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E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828800"/>
            <a:ext cx="5327751" cy="1563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2084832"/>
            <a:ext cx="566928" cy="566928"/>
          </a:xfrm>
          <a:prstGeom prst="ellipse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20848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4855A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798064"/>
            <a:ext cx="4779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Démarche complète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255264"/>
            <a:ext cx="4779111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Exploration, modélisation et évaluation de six familles de modèles.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3863" y="1828800"/>
            <a:ext cx="5327751" cy="1563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98183" y="2084832"/>
            <a:ext cx="566928" cy="566928"/>
          </a:xfrm>
          <a:prstGeom prst="ellipse">
            <a:avLst/>
          </a:prstGeom>
          <a:solidFill>
            <a:srgbClr val="E2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8183" y="20848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4C08A"/>
                </a:solidFill>
                <a:latin typeface="Segoe UI"/>
              </a:rPr>
              <a:t>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8183" y="2798064"/>
            <a:ext cx="4779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Double implémentation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8183" y="3255264"/>
            <a:ext cx="4779111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Chaque modèle en R et en Python, résultats cohérents.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648456"/>
            <a:ext cx="5327751" cy="1563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3904488"/>
            <a:ext cx="566928" cy="566928"/>
          </a:xfrm>
          <a:prstGeom prst="ellipse">
            <a:avLst/>
          </a:prstGeom>
          <a:solidFill>
            <a:srgbClr val="FC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39044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9B824"/>
                </a:solidFill>
                <a:latin typeface="Segoe UI"/>
              </a:rPr>
              <a:t>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617720"/>
            <a:ext cx="4779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Effet de l'horizon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074920"/>
            <a:ext cx="4779111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Le meilleur modèle change avec l'horizon de prévision.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863" y="3648456"/>
            <a:ext cx="5327751" cy="1563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98183" y="3904488"/>
            <a:ext cx="566928" cy="566928"/>
          </a:xfrm>
          <a:prstGeom prst="ellipse">
            <a:avLst/>
          </a:prstGeom>
          <a:solidFill>
            <a:srgbClr val="FB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8183" y="39044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2703A"/>
                </a:solidFill>
                <a:latin typeface="Segoe UI"/>
              </a:rPr>
              <a:t>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8183" y="4617720"/>
            <a:ext cx="4779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Valeur pratique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8183" y="5074920"/>
            <a:ext cx="4779111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Prévisions utiles au réseau et à l'équilibrage offre/demande.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E2703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E2703A"/>
                </a:solidFill>
                <a:latin typeface="Segoe UI"/>
              </a:rPr>
              <a:t>04 · LIMITES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Les limites à garder en tête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E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1874519"/>
            <a:ext cx="10881360" cy="49834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00" b="0">
                <a:solidFill>
                  <a:srgbClr val="4C6659"/>
                </a:solidFill>
                <a:latin typeface="Segoe UI"/>
              </a:rPr>
              <a:t>Données </a:t>
            </a:r>
            <a:r>
              <a:rPr sz="1400" b="1">
                <a:solidFill>
                  <a:srgbClr val="0C2B22"/>
                </a:solidFill>
                <a:latin typeface="Segoe UI"/>
              </a:rPr>
              <a:t>hors variables exogènes</a:t>
            </a:r>
            <a:r>
              <a:rPr sz="1400" b="0">
                <a:solidFill>
                  <a:srgbClr val="4C6659"/>
                </a:solidFill>
                <a:latin typeface="Segoe UI"/>
              </a:rPr>
              <a:t> : météo, prix, jours fériés non intégrés directement.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00" b="0">
                <a:solidFill>
                  <a:srgbClr val="4C6659"/>
                </a:solidFill>
                <a:latin typeface="Segoe UI"/>
              </a:rPr>
              <a:t>La </a:t>
            </a:r>
            <a:r>
              <a:rPr sz="1400" b="1">
                <a:solidFill>
                  <a:srgbClr val="0C2B22"/>
                </a:solidFill>
                <a:latin typeface="Segoe UI"/>
              </a:rPr>
              <a:t>période COVID</a:t>
            </a:r>
            <a:r>
              <a:rPr sz="1400" b="0">
                <a:solidFill>
                  <a:srgbClr val="4C6659"/>
                </a:solidFill>
                <a:latin typeface="Segoe UI"/>
              </a:rPr>
              <a:t> crée une rupture de distribution difficile à anticiper.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00" b="0">
                <a:solidFill>
                  <a:srgbClr val="4C6659"/>
                </a:solidFill>
                <a:latin typeface="Segoe UI"/>
              </a:rPr>
              <a:t>Les modèles </a:t>
            </a:r>
            <a:r>
              <a:rPr sz="1400" b="1">
                <a:solidFill>
                  <a:srgbClr val="0C2B22"/>
                </a:solidFill>
                <a:latin typeface="Segoe UI"/>
              </a:rPr>
              <a:t>deep learning</a:t>
            </a:r>
            <a:r>
              <a:rPr sz="1400" b="0">
                <a:solidFill>
                  <a:srgbClr val="4C6659"/>
                </a:solidFill>
                <a:latin typeface="Segoe UI"/>
              </a:rPr>
              <a:t> demandent des ressources de calcul importantes.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4855A"/>
                </a:solidFill>
                <a:latin typeface="Segoe UI"/>
              </a:rPr>
              <a:t>▸ </a:t>
            </a:r>
            <a:r>
              <a:rPr sz="1400" b="0">
                <a:solidFill>
                  <a:srgbClr val="4C6659"/>
                </a:solidFill>
                <a:latin typeface="Segoe UI"/>
              </a:rPr>
              <a:t>Séries </a:t>
            </a:r>
            <a:r>
              <a:rPr sz="1400" b="1">
                <a:solidFill>
                  <a:srgbClr val="0C2B22"/>
                </a:solidFill>
                <a:latin typeface="Segoe UI"/>
              </a:rPr>
              <a:t>non stationnaires</a:t>
            </a:r>
            <a:r>
              <a:rPr sz="1400" b="0">
                <a:solidFill>
                  <a:srgbClr val="4C6659"/>
                </a:solidFill>
                <a:latin typeface="Segoe UI"/>
              </a:rPr>
              <a:t> et non linéaires : les modèles linéaires plafonnent sur le long terme.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92040"/>
            <a:ext cx="10911535" cy="868680"/>
          </a:xfrm>
          <a:prstGeom prst="roundRect">
            <a:avLst>
              <a:gd name="adj" fmla="val 12000"/>
            </a:avLst>
          </a:prstGeom>
          <a:solidFill>
            <a:srgbClr val="FC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892040"/>
            <a:ext cx="102714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C2B22"/>
                </a:solidFill>
                <a:latin typeface="Segoe UI"/>
              </a:rPr>
              <a:t>Ces limites ouvrent naturellement sur des perspectives d'enrichissement du modèle.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37215" y="-2011680"/>
            <a:ext cx="4206240" cy="4206240"/>
          </a:xfrm>
          <a:prstGeom prst="ellipse">
            <a:avLst/>
          </a:prstGeom>
          <a:solidFill>
            <a:srgbClr val="E2703A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544068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5880" y="557784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5715000"/>
            <a:ext cx="41148" cy="41148"/>
          </a:xfrm>
          <a:prstGeom prst="ellipse">
            <a:avLst/>
          </a:prstGeom>
          <a:solidFill>
            <a:srgbClr val="E2703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E2703A"/>
                </a:solidFill>
                <a:latin typeface="Segoe UI"/>
              </a:rPr>
              <a:t>04 · PERSPECTIVES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2B22"/>
                </a:solidFill>
                <a:latin typeface="Bahnschrift"/>
              </a:rPr>
              <a:t>Et maintenant 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444752"/>
            <a:ext cx="603504" cy="68580"/>
          </a:xfrm>
          <a:prstGeom prst="rect">
            <a:avLst/>
          </a:prstGeom>
          <a:solidFill>
            <a:srgbClr val="E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6382512"/>
            <a:ext cx="10911535" cy="9525"/>
          </a:xfrm>
          <a:prstGeom prst="rect">
            <a:avLst/>
          </a:prstGeom>
          <a:solidFill>
            <a:srgbClr val="E5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9AA6C0"/>
                </a:solidFill>
                <a:latin typeface="Segoe UI"/>
              </a:rPr>
              <a:t>SÉRIES TEMPORELLES  ·  ÉNERGIE ALLEMAGNE (ENTSO-E)  ·  R &amp; PYTHON</a:t>
            </a:r>
          </a:p>
        </p:txBody>
      </p:sp>
      <p:sp>
        <p:nvSpPr>
          <p:cNvPr id="27" name="Oval 26"/>
          <p:cNvSpPr/>
          <p:nvPr/>
        </p:nvSpPr>
        <p:spPr>
          <a:xfrm>
            <a:off x="11240719" y="6355080"/>
            <a:ext cx="347472" cy="347472"/>
          </a:xfrm>
          <a:prstGeom prst="ellipse">
            <a:avLst/>
          </a:prstGeom>
          <a:solidFill>
            <a:srgbClr val="14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0719" y="635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1828800"/>
            <a:ext cx="5327751" cy="1563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2084832"/>
            <a:ext cx="566928" cy="566928"/>
          </a:xfrm>
          <a:prstGeom prst="ellipse">
            <a:avLst/>
          </a:prstGeom>
          <a:solidFill>
            <a:srgbClr val="E2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20848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4C08A"/>
                </a:solidFill>
                <a:latin typeface="Segoe UI"/>
              </a:rPr>
              <a:t>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798064"/>
            <a:ext cx="4779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Ajouter la météo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255264"/>
            <a:ext cx="4779111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Intégrer température, vent et ensoleillement comme variables exogènes.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3863" y="1828800"/>
            <a:ext cx="5327751" cy="1563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98183" y="2084832"/>
            <a:ext cx="566928" cy="566928"/>
          </a:xfrm>
          <a:prstGeom prst="ellipse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8183" y="208483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F7C6C"/>
                </a:solidFill>
                <a:latin typeface="Segoe UI"/>
              </a:rPr>
              <a:t>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8183" y="2798064"/>
            <a:ext cx="4779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Modèles avancés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8183" y="3255264"/>
            <a:ext cx="4779111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Transformer, Temporal Fusion Transformer, apprentissage ensembliste.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648456"/>
            <a:ext cx="5327751" cy="1563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3904488"/>
            <a:ext cx="566928" cy="566928"/>
          </a:xfrm>
          <a:prstGeom prst="ellipse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39044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4855A"/>
                </a:solidFill>
                <a:latin typeface="Segoe UI"/>
              </a:rPr>
              <a:t>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617720"/>
            <a:ext cx="4779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Mise en production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074920"/>
            <a:ext cx="4779111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Réentraînement glissant et déploiement en temps réel.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863" y="3648456"/>
            <a:ext cx="5327751" cy="1563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98183" y="3904488"/>
            <a:ext cx="566928" cy="566928"/>
          </a:xfrm>
          <a:prstGeom prst="ellipse">
            <a:avLst/>
          </a:prstGeom>
          <a:solidFill>
            <a:srgbClr val="FCF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8183" y="39044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E9B824"/>
                </a:solidFill>
                <a:latin typeface="Segoe UI"/>
              </a:rPr>
              <a:t>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8183" y="4617720"/>
            <a:ext cx="47791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C2B22"/>
                </a:solidFill>
                <a:latin typeface="Bahnschrift"/>
              </a:rPr>
              <a:t>Valorisation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8183" y="5074920"/>
            <a:ext cx="4779111" cy="-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C6659"/>
                </a:solidFill>
                <a:latin typeface="Segoe UI"/>
              </a:rPr>
              <a:t>Estimer les gains économiques des prévisions améliorées.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3B2E"/>
              </a:gs>
              <a:gs pos="100000">
                <a:srgbClr val="17694B"/>
              </a:gs>
            </a:gsLst>
            <a:lin scaled="0" ang="19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4023360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51392" y="4023360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07424" y="4023360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63456" y="4023360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19488" y="4023360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0" y="4023360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1552" y="4023360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0" y="4279392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51392" y="4279392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07424" y="4279392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63456" y="4279392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19488" y="4279392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0" y="4279392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31552" y="4279392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4535424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51392" y="4535424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07424" y="4535424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63456" y="4535424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19488" y="4535424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75520" y="4535424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31552" y="4535424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0" y="4791456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51392" y="4791456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4791456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63456" y="4791456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19488" y="4791456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0" y="4791456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31552" y="4791456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95360" y="5047488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51392" y="5047488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07424" y="5047488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63456" y="5047488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19488" y="5047488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875520" y="5047488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31552" y="5047488"/>
            <a:ext cx="64008" cy="64008"/>
          </a:xfrm>
          <a:prstGeom prst="ellipse">
            <a:avLst/>
          </a:prstGeom>
          <a:solidFill>
            <a:srgbClr val="34C08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-2011680" y="3291840"/>
            <a:ext cx="6400800" cy="6400800"/>
          </a:xfrm>
          <a:prstGeom prst="ellipse">
            <a:avLst/>
          </a:prstGeom>
          <a:solidFill>
            <a:srgbClr val="14855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ahnschrift"/>
              </a:rPr>
              <a:t>Merci de votre attention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3337560"/>
            <a:ext cx="731520" cy="82296"/>
          </a:xfrm>
          <a:prstGeom prst="rect">
            <a:avLst/>
          </a:prstGeom>
          <a:solidFill>
            <a:srgbClr val="34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611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7A092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7A092"/>
                </a:solidFill>
                <a:latin typeface="Segoe UI"/>
              </a:rPr>
              <a:t>Prévision des séries temporelles énergétiques  ·  ENTSO-E  ·  R &amp;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